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5cab728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5cab728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5cab728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5cab728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5cab728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15cab728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15cab7280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15cab7280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15cab7280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15cab7280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15cab7280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15cab7280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5cab7280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15cab7280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15cab7280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15cab7280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15cab7280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15cab7280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15cab7280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15cab7280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5cab7280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15cab7280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15cab7280_7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15cab7280_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5cab7280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15cab7280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15cab7280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15cab7280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15cab7280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15cab7280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15cab7280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15cab7280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442475"/>
            <a:ext cx="6619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780"/>
              <a:t>Прогнозирование выручки бизнеса с использованием географических признаков</a:t>
            </a:r>
            <a:endParaRPr sz="278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6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8600" y="2868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420"/>
              <a:t>Тимур Гарифуллин</a:t>
            </a:r>
            <a:endParaRPr sz="14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420"/>
              <a:t>Святослав Ланских</a:t>
            </a:r>
            <a:endParaRPr sz="14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420"/>
              <a:t>Артем Селезнев</a:t>
            </a:r>
            <a:endParaRPr sz="14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420"/>
              <a:t>Кристиан Богдан</a:t>
            </a:r>
            <a:endParaRPr sz="14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проекта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-69875" y="1115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8569" lvl="1" marL="9144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74"/>
              <a:buChar char="○"/>
            </a:pPr>
            <a:r>
              <a:rPr b="1" lang="ru" sz="1574">
                <a:solidFill>
                  <a:schemeClr val="dk1"/>
                </a:solidFill>
                <a:highlight>
                  <a:schemeClr val="lt1"/>
                </a:highlight>
              </a:rPr>
              <a:t>Задача:</a:t>
            </a:r>
            <a:r>
              <a:rPr lang="ru" sz="1574">
                <a:solidFill>
                  <a:schemeClr val="dk1"/>
                </a:solidFill>
                <a:highlight>
                  <a:schemeClr val="lt1"/>
                </a:highlight>
              </a:rPr>
              <a:t> Предсказание суммы транзакций (</a:t>
            </a:r>
            <a:r>
              <a:rPr lang="ru" sz="1574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transaction_sum</a:t>
            </a:r>
            <a:r>
              <a:rPr lang="ru" sz="1574">
                <a:solidFill>
                  <a:schemeClr val="dk1"/>
                </a:solidFill>
                <a:highlight>
                  <a:schemeClr val="lt1"/>
                </a:highlight>
              </a:rPr>
              <a:t>) для оценки потенциальной выручки новой точки.</a:t>
            </a:r>
            <a:endParaRPr sz="1574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8569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4"/>
              <a:buChar char="○"/>
            </a:pPr>
            <a:r>
              <a:rPr b="1" lang="ru" sz="1574">
                <a:solidFill>
                  <a:schemeClr val="dk1"/>
                </a:solidFill>
                <a:highlight>
                  <a:schemeClr val="lt1"/>
                </a:highlight>
              </a:rPr>
              <a:t>Объект:</a:t>
            </a:r>
            <a:r>
              <a:rPr lang="ru" sz="1574">
                <a:solidFill>
                  <a:schemeClr val="dk1"/>
                </a:solidFill>
                <a:highlight>
                  <a:schemeClr val="lt1"/>
                </a:highlight>
              </a:rPr>
              <a:t> Локации различных типов бизнеса по всей России.</a:t>
            </a:r>
            <a:endParaRPr sz="1574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8569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4"/>
              <a:buChar char="○"/>
            </a:pPr>
            <a:r>
              <a:rPr b="1" lang="ru" sz="1574">
                <a:solidFill>
                  <a:schemeClr val="dk1"/>
                </a:solidFill>
                <a:highlight>
                  <a:schemeClr val="lt1"/>
                </a:highlight>
              </a:rPr>
              <a:t>Ценность:</a:t>
            </a:r>
            <a:r>
              <a:rPr lang="ru" sz="1574">
                <a:solidFill>
                  <a:schemeClr val="dk1"/>
                </a:solidFill>
                <a:highlight>
                  <a:schemeClr val="lt1"/>
                </a:highlight>
              </a:rPr>
              <a:t> Помощь бизнесу в выборе локации с минимальным риском и максимальной прибылью (Data-Driven подход к экспансии).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Данные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train.parquet: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" sz="1200">
                <a:solidFill>
                  <a:schemeClr val="dk1"/>
                </a:solidFill>
              </a:rPr>
              <a:t>Содержит бизнес-показатели для существующих точек.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" sz="1200">
                <a:solidFill>
                  <a:schemeClr val="dk1"/>
                </a:solidFill>
              </a:rPr>
              <a:t>Ключевые поля: тип бизнеса, количество клиентов, число транзакций и, самое главное, — сумма транзакций (transaction_sum), которую и нужно предсказывать.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geo_data.parquet: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" sz="1200">
                <a:solidFill>
                  <a:schemeClr val="dk1"/>
                </a:solidFill>
              </a:rPr>
              <a:t>Содержит географические данные для каждой локации.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" sz="1200">
                <a:solidFill>
                  <a:schemeClr val="dk1"/>
                </a:solidFill>
              </a:rPr>
              <a:t>Ключевые поля: широта и долгота, а также информация о том, сколько и как далеко находятся различные объекты (банки, кафе, остановки, парковки и т.д.).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0" y="1234975"/>
            <a:ext cx="4416421" cy="24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525" y="1310100"/>
            <a:ext cx="4227951" cy="22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57375" y="3601425"/>
            <a:ext cx="86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50">
                <a:solidFill>
                  <a:schemeClr val="dk1"/>
                </a:solidFill>
                <a:highlight>
                  <a:schemeClr val="lt1"/>
                </a:highlight>
              </a:rPr>
              <a:t>Таргет имеет тяжелый хвост, поэтому переходим к логарифмической шкале (Log10)</a:t>
            </a:r>
            <a:endParaRPr sz="2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691225"/>
            <a:ext cx="4052076" cy="23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 rotWithShape="1">
          <a:blip r:embed="rId4">
            <a:alphaModFix/>
          </a:blip>
          <a:srcRect b="-38913" l="-42912" r="-6296" t="-10295"/>
          <a:stretch/>
        </p:blipFill>
        <p:spPr>
          <a:xfrm>
            <a:off x="2707050" y="1565977"/>
            <a:ext cx="6264151" cy="324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196600" cy="171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5400" y="1152475"/>
            <a:ext cx="4146900" cy="15750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370875" y="3405150"/>
            <a:ext cx="8319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50">
                <a:solidFill>
                  <a:schemeClr val="dk1"/>
                </a:solidFill>
                <a:highlight>
                  <a:schemeClr val="lt1"/>
                </a:highlight>
              </a:rPr>
              <a:t>Данные покрывают всю РФ, но имеют кластерную структуру в миллионниках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83375" y="1108450"/>
            <a:ext cx="481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ru" sz="1050">
                <a:solidFill>
                  <a:schemeClr val="dk1"/>
                </a:solidFill>
                <a:highlight>
                  <a:schemeClr val="lt1"/>
                </a:highlight>
              </a:rPr>
              <a:t>В нашем датасете есть данные по транзакциям со всей России </a:t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ru" sz="1050">
                <a:solidFill>
                  <a:schemeClr val="dk1"/>
                </a:solidFill>
                <a:highlight>
                  <a:schemeClr val="lt1"/>
                </a:highlight>
              </a:rPr>
              <a:t>Видны кластеры из точек в крупных городах/областных центрах. </a:t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ru" sz="1050">
                <a:solidFill>
                  <a:schemeClr val="dk1"/>
                </a:solidFill>
                <a:highlight>
                  <a:schemeClr val="lt1"/>
                </a:highlight>
              </a:rPr>
              <a:t>Данные не идеальны, существуют подозрительны, например, город Удачный р. Якутия с населением 13 тыс людей имеет среднюю сумму транзакций в 46 млн руб.</a:t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Обнаружены точки с аномально высокой выручкой при малом населении. Это может указывать на специфику региона (добывающая промышленность) или ошибки сбора данных</a:t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Baseline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140850" y="1700250"/>
            <a:ext cx="3558600" cy="20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Примечание: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200">
                <a:solidFill>
                  <a:schemeClr val="dk1"/>
                </a:solidFill>
              </a:rPr>
              <a:t>Для CatBoost Leaderboard (LB) Score = 0.64689.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200">
                <a:solidFill>
                  <a:schemeClr val="dk1"/>
                </a:solidFill>
              </a:rPr>
              <a:t>CatBoost значительно превосходит линейные модели по метрике MAE в логарифмическом масштабе, что говорит о гораздо более точном прогнозировании, особенно на порядки величин.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1441" y="1152523"/>
            <a:ext cx="479663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 аномалиями и выбросами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00625" y="1503550"/>
            <a:ext cx="1754100" cy="29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Validation set IQR outliers: 6905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Validation set Z-score outliers: 202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Test set IQR outliers: 6761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Test set Z-score outliers: 210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975" y="1443667"/>
            <a:ext cx="3418726" cy="2605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475" y="1414100"/>
            <a:ext cx="3340151" cy="272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Работа с аномалиями и выбросами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0" y="1409750"/>
            <a:ext cx="2772600" cy="24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Total IQR outliers: 20936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Total Z-score outliers: 630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Total Isolation Forest outliers: 1724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Anomalies identified by all three methods: 33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Anomalies identified by exactly two methods: 958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Anomalies identified by exactly one method: 21275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Total unique anomalies (by at least one method): 22266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3075" y="1017726"/>
            <a:ext cx="6173023" cy="33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22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045">
                <a:highlight>
                  <a:schemeClr val="lt1"/>
                </a:highlight>
              </a:rPr>
              <a:t>Финальный анализ и сравнение методов обнаружения аномалий</a:t>
            </a:r>
            <a:endParaRPr sz="2045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691725"/>
            <a:ext cx="3105900" cy="28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Model: CatBoost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MAE LOG10 Score: 0.54198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CatBoost test: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Log10 MAE: 0.5468976319588641 LB Score 0.6464551883331039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3417600" y="1350000"/>
            <a:ext cx="5331300" cy="24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Сравнение методов: IQR выявил наибольшее количество аномалий (20936) из-за сильной скошенности `objects_count`. Z-оценка, напротив, была наиболее консервативна (630 аномалий), фокусируясь на самых экстремальных значениях. Isolation Forest занял промежуточное положение (1724 аноманий), находя многомерные выбросы, которые необязательно были экстремальными по одному признаку, но необычны в сочетании нескольких.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Расхождения: Эти методы обнаружили разные подмножества аномалий. Всего 33 точек были помечены всеми тремя методами, 958 — двумя, и 21275 — только одним. Это указывает на то, что каждый метод улавливает свою специфику аномального поведения.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Добавление этих фичей немного снизило качество модели на тесте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KNN признаки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75" y="973523"/>
            <a:ext cx="4838273" cy="29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/>
        </p:nvSpPr>
        <p:spPr>
          <a:xfrm>
            <a:off x="5737150" y="1193850"/>
            <a:ext cx="3000000" cy="27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925" lvl="1" marL="9144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b="1" lang="ru" sz="950">
                <a:solidFill>
                  <a:schemeClr val="dk1"/>
                </a:solidFill>
                <a:highlight>
                  <a:schemeClr val="lt1"/>
                </a:highlight>
              </a:rPr>
              <a:t>KNN-фичи:</a:t>
            </a:r>
            <a:r>
              <a:rPr lang="ru" sz="950">
                <a:solidFill>
                  <a:schemeClr val="dk1"/>
                </a:solidFill>
                <a:highlight>
                  <a:schemeClr val="lt1"/>
                </a:highlight>
              </a:rPr>
              <a:t> "Средняя выручка 5/10/20 ближайших соседей" (Шаг 2 ТЗ).</a:t>
            </a:r>
            <a:endParaRPr sz="9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892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b="1" lang="ru" sz="950">
                <a:solidFill>
                  <a:schemeClr val="dk1"/>
                </a:solidFill>
                <a:highlight>
                  <a:schemeClr val="lt1"/>
                </a:highlight>
              </a:rPr>
              <a:t>Гео-контекст:</a:t>
            </a:r>
            <a:r>
              <a:rPr lang="ru" sz="950">
                <a:solidFill>
                  <a:schemeClr val="dk1"/>
                </a:solidFill>
                <a:highlight>
                  <a:schemeClr val="lt1"/>
                </a:highlight>
              </a:rPr>
              <a:t> "Расстояние до Якутска/Краснодара" (Шаг 4 ТЗ).</a:t>
            </a:r>
            <a:endParaRPr sz="9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892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b="1" lang="ru" sz="950">
                <a:solidFill>
                  <a:schemeClr val="dk1"/>
                </a:solidFill>
                <a:highlight>
                  <a:schemeClr val="lt1"/>
                </a:highlight>
              </a:rPr>
              <a:t>Target Encoding:</a:t>
            </a:r>
            <a:r>
              <a:rPr lang="ru" sz="950">
                <a:solidFill>
                  <a:schemeClr val="dk1"/>
                </a:solidFill>
                <a:highlight>
                  <a:schemeClr val="lt1"/>
                </a:highlight>
              </a:rPr>
              <a:t> Укажите, что попробовали (Шаг 1 ТЗ), но это привело к переобучению (ухудшило скор на тесте).</a:t>
            </a:r>
            <a:endParaRPr sz="9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295650" y="4013000"/>
            <a:ext cx="85527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" sz="900">
                <a:solidFill>
                  <a:schemeClr val="dk1"/>
                </a:solidFill>
                <a:highlight>
                  <a:schemeClr val="lt1"/>
                </a:highlight>
              </a:rPr>
              <a:t>Target Encoding ухудшил скор, CatBoost с categorical фичами показал результат лучше</a:t>
            </a:r>
            <a:endParaRPr sz="8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89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ru" sz="950">
                <a:solidFill>
                  <a:schemeClr val="dk1"/>
                </a:solidFill>
                <a:highlight>
                  <a:schemeClr val="lt1"/>
                </a:highlight>
              </a:rPr>
              <a:t>Все новые фичи улучшили качество модели.</a:t>
            </a:r>
            <a:endParaRPr sz="9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89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ru" sz="950">
                <a:solidFill>
                  <a:schemeClr val="dk1"/>
                </a:solidFill>
                <a:highlight>
                  <a:schemeClr val="lt1"/>
                </a:highlight>
              </a:rPr>
              <a:t>Отобранные признаки по feature importance дали сильный прирост качества модели на тесте</a:t>
            </a:r>
            <a:endParaRPr sz="9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2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ru" sz="850">
                <a:solidFill>
                  <a:schemeClr val="dk1"/>
                </a:solidFill>
                <a:highlight>
                  <a:schemeClr val="lt1"/>
                </a:highlight>
              </a:rPr>
              <a:t>Log10 MAE: 0.5382339632078289 LB Score 0.6500961647697615</a:t>
            </a:r>
            <a:endParaRPr sz="9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Отбор признаков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1405475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highlight>
                  <a:schemeClr val="lt1"/>
                </a:highlight>
              </a:rPr>
              <a:t>1) корр не дала прирост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highlight>
                  <a:schemeClr val="lt1"/>
                </a:highlight>
              </a:rPr>
              <a:t>2) оптуна, полный перебор (долго 5 лет)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highlight>
                  <a:schemeClr val="lt1"/>
                </a:highlight>
              </a:rPr>
              <a:t>3) через feature importance топ 50 взяли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1954"/>
              <a:t>Интерпретация и диагностика моделей</a:t>
            </a:r>
            <a:endParaRPr sz="195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147" name="Google Shape;147;p26"/>
          <p:cNvPicPr preferRelativeResize="0"/>
          <p:nvPr/>
        </p:nvPicPr>
        <p:blipFill rotWithShape="1">
          <a:blip r:embed="rId3">
            <a:alphaModFix/>
          </a:blip>
          <a:srcRect b="-7529" l="-1689" r="1689" t="7530"/>
          <a:stretch/>
        </p:blipFill>
        <p:spPr>
          <a:xfrm>
            <a:off x="0" y="1406600"/>
            <a:ext cx="4137976" cy="209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225" y="1307225"/>
            <a:ext cx="4820111" cy="2191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 txBox="1"/>
          <p:nvPr/>
        </p:nvSpPr>
        <p:spPr>
          <a:xfrm>
            <a:off x="888550" y="3499075"/>
            <a:ext cx="1700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800">
                <a:solidFill>
                  <a:schemeClr val="dk1"/>
                </a:solidFill>
              </a:rPr>
              <a:t>local shap elastic net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6090450" y="3548975"/>
            <a:ext cx="1700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local shap catboost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123550" y="4188925"/>
            <a:ext cx="8784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Линейная модель опирается на простые расстояния, а CatBoost выстраивает сложные зависимости на основе KNN-признаков соседей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1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1859"/>
              <a:t>Интерпретация и диагностика моделей</a:t>
            </a:r>
            <a:endParaRPr sz="185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75" y="1179075"/>
            <a:ext cx="6760248" cy="3155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7006100" y="2110050"/>
            <a:ext cx="200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</a:rPr>
              <a:t>Удаление аномалий по шап значениям чуть улучшило качество (0.5358 -&gt; 0.5350)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38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240"/>
              <a:buFont typeface="Arial"/>
              <a:buNone/>
            </a:pPr>
            <a:r>
              <a:rPr lang="ru" sz="1859"/>
              <a:t>Интерпретация и диагностика моделей</a:t>
            </a:r>
            <a:endParaRPr sz="185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811325"/>
            <a:ext cx="20124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Кластеры по shap эмбеддингам прироста не дали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975" y="955975"/>
            <a:ext cx="6194349" cy="393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ru" sz="1017">
                <a:solidFill>
                  <a:schemeClr val="dk1"/>
                </a:solidFill>
                <a:highlight>
                  <a:schemeClr val="lt1"/>
                </a:highlight>
              </a:rPr>
              <a:t>Заголовок слайда: Итоги проекта и бизнес-ценность</a:t>
            </a:r>
            <a:endParaRPr b="1" sz="1017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99"/>
              <a:buAutoNum type="arabi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Решение бизнес-задачи</a:t>
            </a:r>
            <a:endParaRPr b="1"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lphaLcPeriod"/>
            </a:pP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Разработан ML-инструмент для </a:t>
            </a: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прогнозирования выручки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новых точек на основе геоданных.</a:t>
            </a:r>
            <a:endParaRPr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lphaLcPeriod"/>
            </a:pP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Модель позволяет бизнесу </a:t>
            </a: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отсеивать убыточные локации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на этапе планирования, снижая риски при экспансии.</a:t>
            </a:r>
            <a:endParaRPr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rabi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Ключевые инсайты (Feature Engineering &amp; Interpretation)</a:t>
            </a:r>
            <a:endParaRPr b="1"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lphaL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Гипотеза подтверждена: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Окружение определяет успех. Сгенерированные признаки (выручка ближайших соседей через KNN, плотность инфраструктуры) оказались наиболее значимыми по SHAP-анализу.</a:t>
            </a:r>
            <a:endParaRPr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lphaL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Нелинейность: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Линейные модели (ElasticNet) не уловили сложные географические паттерны, CatBoost показал прирост качества в </a:t>
            </a: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3.5 раза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(MAE 1.9 → 0.53).</a:t>
            </a:r>
            <a:endParaRPr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rabi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Работа с данными и аномалиями</a:t>
            </a:r>
            <a:endParaRPr b="1"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lphaLcPeriod"/>
            </a:pP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Выявлено </a:t>
            </a: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~22 тыс. аномалий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(через Isolation Forest и IQR).</a:t>
            </a:r>
            <a:endParaRPr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lphaL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Решение: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Удаление выбросов не улучшило метрики на тесте. Мы сохранили данные, позволив CatBoost самостоятельно обрабатывать "тяжелые хвосты" распределения, что соответствует реальной природе бизнеса (существование точек-лидеров).</a:t>
            </a:r>
            <a:endParaRPr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rabi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Фи</a:t>
            </a: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нальный результат</a:t>
            </a:r>
            <a:endParaRPr b="1"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lphaL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Лучшая модель: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CatBoost</a:t>
            </a:r>
            <a:endParaRPr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lphaL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Метрика (Log10 MAE):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0.534 (на отложенной выборке).</a:t>
            </a:r>
            <a:endParaRPr sz="898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567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9"/>
              <a:buAutoNum type="alphaLcPeriod"/>
            </a:pPr>
            <a:r>
              <a:rPr b="1" lang="ru" sz="898">
                <a:solidFill>
                  <a:schemeClr val="dk1"/>
                </a:solidFill>
                <a:highlight>
                  <a:schemeClr val="lt1"/>
                </a:highlight>
              </a:rPr>
              <a:t>Результат:</a:t>
            </a:r>
            <a:r>
              <a:rPr lang="ru" sz="898">
                <a:solidFill>
                  <a:schemeClr val="dk1"/>
                </a:solidFill>
                <a:highlight>
                  <a:schemeClr val="lt1"/>
                </a:highlight>
              </a:rPr>
              <a:t> Модель готова к пилотному тестированию на новых городах.</a:t>
            </a:r>
            <a:endParaRPr sz="1255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